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1666" y="-23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1796" y="1053655"/>
            <a:ext cx="7772400" cy="1470025"/>
          </a:xfrm>
        </p:spPr>
        <p:txBody>
          <a:bodyPr>
            <a:normAutofit/>
          </a:bodyPr>
          <a:lstStyle/>
          <a:p>
            <a:r>
              <a:rPr sz="3600" b="1" u="sng" dirty="0" err="1"/>
              <a:t>Zomato</a:t>
            </a:r>
            <a:r>
              <a:rPr sz="3600" b="1" u="sng" dirty="0"/>
              <a:t> Revenue &amp; Profitability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2964" y="3196127"/>
            <a:ext cx="64435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/>
              <a:t>Key Skills Used :- SQL, Data Visualizations, Excel, Power Point Etc.</a:t>
            </a:r>
            <a:endParaRPr lang="en-IN" sz="2400" b="1" u="sng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smtClean="0"/>
              <a:t> </a:t>
            </a:r>
            <a:r>
              <a:rPr sz="2800" dirty="0"/>
              <a:t>Performed SQL analysis on 20,000+ </a:t>
            </a:r>
            <a:r>
              <a:rPr sz="2800" dirty="0" err="1"/>
              <a:t>Zomato</a:t>
            </a:r>
            <a:r>
              <a:rPr sz="2800" dirty="0"/>
              <a:t> </a:t>
            </a:r>
            <a:r>
              <a:rPr sz="2800" dirty="0" smtClean="0"/>
              <a:t>orders</a:t>
            </a:r>
            <a:r>
              <a:rPr lang="en-US" sz="2800" dirty="0" smtClean="0"/>
              <a:t>.</a:t>
            </a:r>
            <a:endParaRPr sz="2800" dirty="0"/>
          </a:p>
          <a:p>
            <a:r>
              <a:rPr sz="2800" dirty="0" smtClean="0"/>
              <a:t> </a:t>
            </a:r>
            <a:r>
              <a:rPr sz="2800" dirty="0"/>
              <a:t>Derived insights on revenue, profitability, customers, and </a:t>
            </a:r>
            <a:r>
              <a:rPr sz="2800" dirty="0" smtClean="0"/>
              <a:t>restaurants</a:t>
            </a:r>
            <a:r>
              <a:rPr lang="en-US" sz="2800" dirty="0" smtClean="0"/>
              <a:t>.</a:t>
            </a:r>
            <a:endParaRPr sz="2800" dirty="0"/>
          </a:p>
          <a:p>
            <a:r>
              <a:rPr sz="2800" dirty="0" smtClean="0"/>
              <a:t> </a:t>
            </a:r>
            <a:r>
              <a:rPr sz="2800" dirty="0"/>
              <a:t>Identified key business drivers and optimization </a:t>
            </a:r>
            <a:r>
              <a:rPr sz="2800" dirty="0" smtClean="0"/>
              <a:t>opportunities</a:t>
            </a:r>
            <a:r>
              <a:rPr lang="en-US" sz="2800" dirty="0" smtClean="0"/>
              <a:t>.</a:t>
            </a:r>
            <a:endParaRPr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u="sng" dirty="0"/>
              <a:t>Revenue Performance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43329"/>
          </a:xfrm>
        </p:spPr>
        <p:txBody>
          <a:bodyPr>
            <a:normAutofit/>
          </a:bodyPr>
          <a:lstStyle/>
          <a:p>
            <a:r>
              <a:rPr sz="2800" dirty="0" smtClean="0"/>
              <a:t>Identified </a:t>
            </a:r>
            <a:r>
              <a:rPr sz="2800" dirty="0"/>
              <a:t>total gross and net revenue using SQL </a:t>
            </a:r>
            <a:r>
              <a:rPr sz="2800" dirty="0" smtClean="0"/>
              <a:t>aggregations</a:t>
            </a:r>
            <a:r>
              <a:rPr lang="en-US" sz="2800" dirty="0" smtClean="0"/>
              <a:t>.</a:t>
            </a:r>
            <a:endParaRPr sz="2800" dirty="0"/>
          </a:p>
          <a:p>
            <a:r>
              <a:rPr sz="2800" dirty="0" smtClean="0"/>
              <a:t>Monthly </a:t>
            </a:r>
            <a:r>
              <a:rPr sz="2800" dirty="0"/>
              <a:t>revenue trend showed consistent </a:t>
            </a:r>
            <a:r>
              <a:rPr lang="en-US" sz="2800" dirty="0" smtClean="0"/>
              <a:t> </a:t>
            </a:r>
            <a:r>
              <a:rPr sz="2800" dirty="0" err="1" smtClean="0"/>
              <a:t>MoM</a:t>
            </a:r>
            <a:r>
              <a:rPr sz="2800" dirty="0" smtClean="0"/>
              <a:t> growth</a:t>
            </a:r>
            <a:r>
              <a:rPr lang="en-US" sz="2800" dirty="0" smtClean="0"/>
              <a:t>.</a:t>
            </a:r>
            <a:endParaRPr sz="2800" dirty="0"/>
          </a:p>
          <a:p>
            <a:r>
              <a:rPr sz="2800" dirty="0" smtClean="0"/>
              <a:t>Tier-1 </a:t>
            </a:r>
            <a:r>
              <a:rPr sz="2800" dirty="0"/>
              <a:t>cities (Mumbai, Delhi, Bengaluru) contributed ~60–70% of </a:t>
            </a:r>
            <a:r>
              <a:rPr sz="2800" dirty="0" smtClean="0"/>
              <a:t>revenue</a:t>
            </a:r>
            <a:r>
              <a:rPr lang="en-US" sz="2800" dirty="0" smtClean="0"/>
              <a:t>.</a:t>
            </a:r>
            <a:endParaRPr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5195"/>
            <a:ext cx="8229600" cy="1143000"/>
          </a:xfrm>
        </p:spPr>
        <p:txBody>
          <a:bodyPr>
            <a:normAutofit/>
          </a:bodyPr>
          <a:lstStyle/>
          <a:p>
            <a:r>
              <a:rPr sz="3600" b="1" u="sng" dirty="0"/>
              <a:t>Restaurant Profitability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7185"/>
            <a:ext cx="8229600" cy="3758978"/>
          </a:xfrm>
        </p:spPr>
        <p:txBody>
          <a:bodyPr>
            <a:normAutofit/>
          </a:bodyPr>
          <a:lstStyle/>
          <a:p>
            <a:r>
              <a:rPr sz="2800" dirty="0" smtClean="0"/>
              <a:t>Top </a:t>
            </a:r>
            <a:r>
              <a:rPr sz="2800" dirty="0"/>
              <a:t>10 restaurants generated majority of contribution </a:t>
            </a:r>
            <a:r>
              <a:rPr sz="2800" dirty="0" smtClean="0"/>
              <a:t>margin</a:t>
            </a:r>
            <a:r>
              <a:rPr lang="en-US" sz="2800" dirty="0" smtClean="0"/>
              <a:t>.</a:t>
            </a:r>
            <a:endParaRPr sz="2800" dirty="0"/>
          </a:p>
          <a:p>
            <a:r>
              <a:rPr sz="2800" dirty="0" smtClean="0"/>
              <a:t>Identified </a:t>
            </a:r>
            <a:r>
              <a:rPr sz="2800" dirty="0"/>
              <a:t>loss-making restaurants with negative </a:t>
            </a:r>
            <a:r>
              <a:rPr sz="2800" dirty="0" smtClean="0"/>
              <a:t>profitability</a:t>
            </a:r>
            <a:r>
              <a:rPr lang="en-US" sz="2800" dirty="0" smtClean="0"/>
              <a:t>.</a:t>
            </a:r>
            <a:endParaRPr sz="2800" dirty="0"/>
          </a:p>
          <a:p>
            <a:r>
              <a:rPr sz="2800" dirty="0" smtClean="0"/>
              <a:t>Causes</a:t>
            </a:r>
            <a:r>
              <a:rPr sz="2800" dirty="0"/>
              <a:t>: high delivery cost, heavy discounts, low order </a:t>
            </a:r>
            <a:r>
              <a:rPr sz="2800" dirty="0" smtClean="0"/>
              <a:t>value</a:t>
            </a:r>
            <a:r>
              <a:rPr lang="en-US" sz="2800" dirty="0" smtClean="0"/>
              <a:t>.</a:t>
            </a:r>
            <a:endParaRPr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22" y="659199"/>
            <a:ext cx="8229600" cy="1143000"/>
          </a:xfrm>
        </p:spPr>
        <p:txBody>
          <a:bodyPr>
            <a:normAutofit/>
          </a:bodyPr>
          <a:lstStyle/>
          <a:p>
            <a:r>
              <a:rPr sz="3200" b="1" u="sng" dirty="0"/>
              <a:t>Customer Behavior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4816"/>
            <a:ext cx="8229600" cy="3921348"/>
          </a:xfrm>
        </p:spPr>
        <p:txBody>
          <a:bodyPr>
            <a:normAutofit/>
          </a:bodyPr>
          <a:lstStyle/>
          <a:p>
            <a:r>
              <a:rPr sz="2800" dirty="0" smtClean="0"/>
              <a:t>Top </a:t>
            </a:r>
            <a:r>
              <a:rPr sz="2800" dirty="0"/>
              <a:t>5% customers contributed nearly 25–30% of total </a:t>
            </a:r>
            <a:r>
              <a:rPr sz="2800" dirty="0" smtClean="0"/>
              <a:t>revenue</a:t>
            </a:r>
            <a:r>
              <a:rPr lang="en-US" sz="2800" dirty="0" smtClean="0"/>
              <a:t>.</a:t>
            </a:r>
            <a:endParaRPr sz="2800" dirty="0"/>
          </a:p>
          <a:p>
            <a:r>
              <a:rPr sz="2800" dirty="0" smtClean="0"/>
              <a:t>High-LTV </a:t>
            </a:r>
            <a:r>
              <a:rPr sz="2800" dirty="0"/>
              <a:t>customers prefer premium cuisines &amp; Tier-1 </a:t>
            </a:r>
            <a:r>
              <a:rPr sz="2800" dirty="0" smtClean="0"/>
              <a:t>locations</a:t>
            </a:r>
            <a:r>
              <a:rPr lang="en-US" sz="2800" dirty="0" smtClean="0"/>
              <a:t>.</a:t>
            </a:r>
            <a:endParaRPr sz="2800" dirty="0"/>
          </a:p>
          <a:p>
            <a:r>
              <a:rPr sz="2800" dirty="0" smtClean="0"/>
              <a:t>Majority </a:t>
            </a:r>
            <a:r>
              <a:rPr sz="2800" dirty="0"/>
              <a:t>of customers order without </a:t>
            </a:r>
            <a:r>
              <a:rPr sz="2800" dirty="0" smtClean="0"/>
              <a:t>discounts</a:t>
            </a:r>
            <a:r>
              <a:rPr lang="en-US" sz="2800" dirty="0" smtClean="0"/>
              <a:t>.</a:t>
            </a:r>
            <a:endParaRPr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6649"/>
            <a:ext cx="8229600" cy="1143000"/>
          </a:xfrm>
        </p:spPr>
        <p:txBody>
          <a:bodyPr>
            <a:normAutofit/>
          </a:bodyPr>
          <a:lstStyle/>
          <a:p>
            <a:r>
              <a:rPr sz="3200" b="1" u="sng" dirty="0"/>
              <a:t>Discount &amp; Promotion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112" y="2138585"/>
            <a:ext cx="8229600" cy="3852017"/>
          </a:xfrm>
        </p:spPr>
        <p:txBody>
          <a:bodyPr>
            <a:normAutofit/>
          </a:bodyPr>
          <a:lstStyle/>
          <a:p>
            <a:r>
              <a:rPr sz="2800" dirty="0" smtClean="0"/>
              <a:t>60</a:t>
            </a:r>
            <a:r>
              <a:rPr sz="2800" dirty="0"/>
              <a:t>% of orders had zero discounts → strong natural </a:t>
            </a:r>
            <a:r>
              <a:rPr sz="2800" dirty="0" smtClean="0"/>
              <a:t>demand</a:t>
            </a:r>
            <a:r>
              <a:rPr lang="en-US" sz="2800" dirty="0" smtClean="0"/>
              <a:t>.</a:t>
            </a:r>
            <a:endParaRPr sz="2800" dirty="0"/>
          </a:p>
          <a:p>
            <a:r>
              <a:rPr sz="2800" dirty="0" smtClean="0"/>
              <a:t>High </a:t>
            </a:r>
            <a:r>
              <a:rPr sz="2800" dirty="0"/>
              <a:t>discount orders (&gt;₹150) significantly reduce </a:t>
            </a:r>
            <a:r>
              <a:rPr sz="2800" dirty="0" smtClean="0"/>
              <a:t>margins</a:t>
            </a:r>
            <a:r>
              <a:rPr lang="en-US" sz="2800" dirty="0" smtClean="0"/>
              <a:t>.</a:t>
            </a:r>
            <a:endParaRPr sz="2800" dirty="0"/>
          </a:p>
          <a:p>
            <a:r>
              <a:rPr sz="2800" dirty="0" smtClean="0"/>
              <a:t>Suggested </a:t>
            </a:r>
            <a:r>
              <a:rPr sz="2800" dirty="0"/>
              <a:t>reducing excessive promotions to prevent margin </a:t>
            </a:r>
            <a:r>
              <a:rPr sz="2800" dirty="0" smtClean="0"/>
              <a:t>leakage</a:t>
            </a:r>
            <a:r>
              <a:rPr lang="en-US" sz="2800" dirty="0" smtClean="0"/>
              <a:t>.</a:t>
            </a:r>
            <a:endParaRPr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>
            <a:normAutofit/>
          </a:bodyPr>
          <a:lstStyle/>
          <a:p>
            <a:r>
              <a:rPr sz="3200" b="1" u="sng" dirty="0"/>
              <a:t>Distance &amp; Delivery Efficiency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23147"/>
            <a:ext cx="8229600" cy="2715426"/>
          </a:xfrm>
        </p:spPr>
        <p:txBody>
          <a:bodyPr>
            <a:normAutofit/>
          </a:bodyPr>
          <a:lstStyle/>
          <a:p>
            <a:r>
              <a:rPr sz="2800" dirty="0" smtClean="0"/>
              <a:t>Delivery </a:t>
            </a:r>
            <a:r>
              <a:rPr sz="2800" dirty="0"/>
              <a:t>fee increases significantly for long-distance </a:t>
            </a:r>
            <a:r>
              <a:rPr sz="2800" dirty="0" smtClean="0"/>
              <a:t>orders</a:t>
            </a:r>
            <a:r>
              <a:rPr lang="en-US" sz="2800" dirty="0"/>
              <a:t>.</a:t>
            </a:r>
            <a:endParaRPr sz="2800" dirty="0"/>
          </a:p>
          <a:p>
            <a:r>
              <a:rPr sz="2800" dirty="0" smtClean="0"/>
              <a:t>Orders </a:t>
            </a:r>
            <a:r>
              <a:rPr sz="2800" dirty="0"/>
              <a:t>above 12–15 km are least </a:t>
            </a:r>
            <a:r>
              <a:rPr sz="2800" dirty="0" smtClean="0"/>
              <a:t>profitable</a:t>
            </a:r>
            <a:r>
              <a:rPr lang="en-US" sz="2800" dirty="0" smtClean="0"/>
              <a:t>.</a:t>
            </a:r>
            <a:endParaRPr sz="2800" dirty="0"/>
          </a:p>
          <a:p>
            <a:r>
              <a:rPr sz="2800" dirty="0" smtClean="0"/>
              <a:t>Faster </a:t>
            </a:r>
            <a:r>
              <a:rPr sz="2800" dirty="0"/>
              <a:t>delivery partners correlate with better contribution </a:t>
            </a:r>
            <a:r>
              <a:rPr sz="2800" dirty="0" smtClean="0"/>
              <a:t>margins</a:t>
            </a:r>
            <a:r>
              <a:rPr lang="en-US" sz="2800" dirty="0" smtClean="0"/>
              <a:t>.</a:t>
            </a:r>
            <a:endParaRPr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u="sng" dirty="0"/>
              <a:t>Cuisine-Level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smtClean="0"/>
              <a:t>North </a:t>
            </a:r>
            <a:r>
              <a:rPr sz="2800" dirty="0"/>
              <a:t>Indian, Chinese, and Fast Food cuisines drive maximum </a:t>
            </a:r>
            <a:r>
              <a:rPr sz="2800" dirty="0" smtClean="0"/>
              <a:t>revenue</a:t>
            </a:r>
            <a:r>
              <a:rPr lang="en-US" sz="2800" dirty="0" smtClean="0"/>
              <a:t>.</a:t>
            </a:r>
            <a:endParaRPr sz="2800" dirty="0"/>
          </a:p>
          <a:p>
            <a:r>
              <a:rPr sz="2800" dirty="0" smtClean="0"/>
              <a:t>Continental </a:t>
            </a:r>
            <a:r>
              <a:rPr sz="2800" dirty="0"/>
              <a:t>cuisine has high AOV but lower </a:t>
            </a:r>
            <a:r>
              <a:rPr sz="2800" dirty="0" smtClean="0"/>
              <a:t>frequency</a:t>
            </a:r>
            <a:r>
              <a:rPr lang="en-US" sz="2800" dirty="0" smtClean="0"/>
              <a:t>.</a:t>
            </a:r>
            <a:endParaRPr sz="2800" dirty="0"/>
          </a:p>
          <a:p>
            <a:r>
              <a:rPr sz="2800" dirty="0" smtClean="0"/>
              <a:t>Helps </a:t>
            </a:r>
            <a:r>
              <a:rPr sz="2800" dirty="0"/>
              <a:t>optimize restaurant onboarding </a:t>
            </a:r>
            <a:r>
              <a:rPr sz="2800" dirty="0" smtClean="0"/>
              <a:t>strategy</a:t>
            </a:r>
            <a:r>
              <a:rPr lang="en-US" sz="2800" dirty="0" smtClean="0"/>
              <a:t>.</a:t>
            </a:r>
            <a:endParaRPr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u="sng" dirty="0"/>
              <a:t>Project </a:t>
            </a:r>
            <a:r>
              <a:rPr sz="3200" b="1" u="sng" dirty="0" smtClean="0"/>
              <a:t>Summary</a:t>
            </a:r>
            <a:endParaRPr sz="32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smtClean="0"/>
              <a:t>Conducted </a:t>
            </a:r>
            <a:r>
              <a:rPr sz="2800" dirty="0"/>
              <a:t>end-to-end SQL analysis on 20,000+ </a:t>
            </a:r>
            <a:r>
              <a:rPr sz="2800" dirty="0" err="1"/>
              <a:t>Zomato</a:t>
            </a:r>
            <a:r>
              <a:rPr sz="2800" dirty="0"/>
              <a:t> </a:t>
            </a:r>
            <a:r>
              <a:rPr sz="2800" dirty="0" smtClean="0"/>
              <a:t>orders</a:t>
            </a:r>
            <a:r>
              <a:rPr lang="en-US" sz="2800" dirty="0" smtClean="0"/>
              <a:t>.</a:t>
            </a:r>
            <a:endParaRPr sz="2800" dirty="0"/>
          </a:p>
          <a:p>
            <a:r>
              <a:rPr sz="2800" dirty="0" smtClean="0"/>
              <a:t>Identified </a:t>
            </a:r>
            <a:r>
              <a:rPr sz="2800" dirty="0"/>
              <a:t>high-value customers, profitable restaurants, and revenue </a:t>
            </a:r>
            <a:r>
              <a:rPr sz="2800" dirty="0" smtClean="0"/>
              <a:t>drivers</a:t>
            </a:r>
            <a:r>
              <a:rPr lang="en-US" sz="2800" dirty="0" smtClean="0"/>
              <a:t>.</a:t>
            </a:r>
            <a:endParaRPr sz="2800" dirty="0"/>
          </a:p>
          <a:p>
            <a:r>
              <a:rPr sz="2800" dirty="0" smtClean="0"/>
              <a:t>Analyzed </a:t>
            </a:r>
            <a:r>
              <a:rPr sz="2800" dirty="0"/>
              <a:t>discounts, distance, cuisine, and cost structures affecting </a:t>
            </a:r>
            <a:r>
              <a:rPr sz="2800" dirty="0" smtClean="0"/>
              <a:t>profitability</a:t>
            </a:r>
            <a:r>
              <a:rPr lang="en-US" sz="2800" dirty="0" smtClean="0"/>
              <a:t>.</a:t>
            </a:r>
            <a:endParaRPr sz="2800" dirty="0"/>
          </a:p>
          <a:p>
            <a:r>
              <a:rPr sz="2800" dirty="0" smtClean="0"/>
              <a:t>Delivered </a:t>
            </a:r>
            <a:r>
              <a:rPr sz="2800" dirty="0"/>
              <a:t>insights to support operational and marketing </a:t>
            </a:r>
            <a:r>
              <a:rPr sz="2800" dirty="0" smtClean="0"/>
              <a:t>decisions</a:t>
            </a:r>
            <a:r>
              <a:rPr lang="en-US" sz="2800" dirty="0" smtClean="0"/>
              <a:t>.</a:t>
            </a:r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295</Words>
  <Application>Microsoft Office PowerPoint</Application>
  <PresentationFormat>On-screen Show (4:3)</PresentationFormat>
  <Paragraphs>35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Zomato Revenue &amp; Profitability Analysis</vt:lpstr>
      <vt:lpstr>Project Overview</vt:lpstr>
      <vt:lpstr>Revenue Performance Insights</vt:lpstr>
      <vt:lpstr>Restaurant Profitability Insights</vt:lpstr>
      <vt:lpstr>Customer Behavior Insights</vt:lpstr>
      <vt:lpstr>Discount &amp; Promotion Insights</vt:lpstr>
      <vt:lpstr>Distance &amp; Delivery Efficiency Insights</vt:lpstr>
      <vt:lpstr>Cuisine-Level Insights</vt:lpstr>
      <vt:lpstr>Project Summary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Revenue &amp; Profitability Analysis</dc:title>
  <dc:creator>sachin sen</dc:creator>
  <dc:description>generated using python-pptx</dc:description>
  <cp:lastModifiedBy>sachin sen</cp:lastModifiedBy>
  <cp:revision>3</cp:revision>
  <dcterms:created xsi:type="dcterms:W3CDTF">2013-01-27T09:14:16Z</dcterms:created>
  <dcterms:modified xsi:type="dcterms:W3CDTF">2025-12-06T05:55:02Z</dcterms:modified>
</cp:coreProperties>
</file>